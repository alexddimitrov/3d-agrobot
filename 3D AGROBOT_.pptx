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C1C"/>
    <a:srgbClr val="364226"/>
    <a:srgbClr val="E2D0B4"/>
    <a:srgbClr val="BCD6B8"/>
    <a:srgbClr val="67795C"/>
    <a:srgbClr val="E3EED0"/>
    <a:srgbClr val="FFFFFF"/>
    <a:srgbClr val="4F8219"/>
    <a:srgbClr val="3B6E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1" autoAdjust="0"/>
    <p:restoredTop sz="73766" autoAdjust="0"/>
  </p:normalViewPr>
  <p:slideViewPr>
    <p:cSldViewPr snapToGrid="0">
      <p:cViewPr varScale="1">
        <p:scale>
          <a:sx n="71" d="100"/>
          <a:sy n="71" d="100"/>
        </p:scale>
        <p:origin x="768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F157C-1527-4B35-B3BB-C254BE11195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6503D-404F-439F-A13E-399B9770F9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43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Нашият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съчетава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интелигентен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мобилно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Роботът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наблюдава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растенията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признаци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заболявания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Мобилното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потребителите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лесно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следят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състоянието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своите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градини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откриване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изкуствен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интелект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предлага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възможни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лечение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този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потребителят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бърза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разбираема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здравето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растенията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специални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знания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какво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отличава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нашият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Безплатно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достъпно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всеки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Организиране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проследяване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градините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чрез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мобилно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наблюдение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присъствие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място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Бърза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диагностика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заболяванията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Ясна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разбираема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потребителя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Достъпност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както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начинаещи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опитни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производители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20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084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15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2DDF-CC5A-8937-8729-F38A1DA1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0B9B1-4138-8667-5151-55408EB72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C3616-6ECC-AF43-2064-46A6DB443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E3283-9351-BC72-33CE-8859C0810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249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0DFE-ABCE-D34D-FCA2-5F4C2412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CFF3A-75F1-7D2C-D874-813B91ED1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75EAA-0E9F-88B6-A5BC-B66329058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EF94F-E753-4FBE-955C-5E2FE4A22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68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D23C-0B83-CB7C-9E29-0B9F0698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C6417-017E-BE4F-0962-590457E5A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16405-39B1-DC18-8B8A-21B4295BB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F4C66-5188-D0A8-286D-A7B75183F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503D-404F-439F-A13E-399B9770F91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90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B2C1-48F9-5830-ECF4-F0C2BC979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234B1-65DF-8926-83B9-7DFC560C8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2E16-E2EE-9471-6D2A-D6AC31ED3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1AFD-3735-5185-41FB-865BEA76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B4FCC-3D55-46AB-A56B-AC58DA0B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06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C539-9A71-ABD7-2B70-485AF2A1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39AEE-E3DB-47EE-95E3-0621744E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EF13C-9760-70FF-2132-44A76D5E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26C7-84F3-268C-C270-3877FB6B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961B8-AD0B-5E7B-6BDC-1AC549EB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84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7705-04A5-D22B-0D06-32BDDED1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C28B7-E456-E9C2-668A-74E05BDC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5113-8CAE-B10D-D5CC-3F3F136F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84D2-806A-845C-8F75-554FFB64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3B385-A771-3F16-6189-A3080ECA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70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8AAE-F6DD-9CA1-477F-4BA75A41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CA0DB-435D-BB02-5FAB-B48B7D90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AD7EB-7F68-A416-F531-CCF3828F6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28FC0-0A7E-2853-D503-F6C742EF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5EEFC-3AF3-EC5C-2C76-72B3B743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694A2-4DF6-3113-83D5-FE595491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85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1166-1AFF-5A63-D93A-153FC495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BC472-72DB-82AE-DF5F-B57F1B9C0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BDB87-57D4-37B4-BBDF-B855B218C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07D20-AC55-B65C-C0C5-2C7CB87A6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07FAC7-3740-D316-827D-C78EAC505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AF837-91C8-9549-4AEF-B86F6D8B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C8F1-00AD-8304-73FD-37117CD3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01250-3662-C25C-1965-ECDBD68C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12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A9A3-ED02-2C0D-87F3-16F53635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D1673-A6E0-4056-5978-4AF7DDE9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A8917-4E57-811C-BCF0-7129F807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A373C-FF8B-1846-2B37-8F8BBEA4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83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8D5D1-FDC5-6E57-EB35-C38F3716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727C6-281F-606A-DB3B-4C059496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DACB5-D819-FC74-85F0-7CE0873F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97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4161-03D7-7774-D184-6AB7EE48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082F-004C-D5F5-EB3E-C87D717EA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B5BB-36A8-A41D-D8E9-4C7DAEB2D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94AA6-B46F-E9A2-15DA-CFB584A7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E58F0-0D66-7427-70AF-A14156C2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424DA-0BFD-5E60-7D3E-19F75A2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1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CD41-BA01-5A30-C152-37F29AAF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3F648-B7DF-BCDE-5CA2-8210AE7DA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5A6AB-6D61-A30C-3A5B-8C01B8665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70F6C-0082-F712-6472-4D4F80EE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92EB3-628D-C57B-94F6-B39ABC3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2849-823D-4777-40E9-FEE89737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23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3C03-FDCB-4B33-7669-E3CA5CF4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5A7CC-001A-FECE-BDBA-FA01381FC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0C659-0CC9-D135-831F-5D7D6145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13A9-7A2C-4DA0-DBDC-8C62421D7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C154-AED2-5BCC-856E-89F92CDE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26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7C8DA-0A62-B222-F601-3BDAE8558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92E49-5B37-6CAE-75CE-06B37255C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5052-19F8-BB71-0E4D-C0B30C3D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7F65-2049-5F87-52C5-CEA38C96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C471-3B53-5A18-5174-1000F3B3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47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64226"/>
            </a:gs>
            <a:gs pos="96000">
              <a:srgbClr val="BCD6B8"/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1321E-E463-017F-A2DA-E9703019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BEC3A-5A8C-A8D1-3CBE-B059864F3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D3B0B-C9A5-EFAF-EA5B-539D57090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51508-ECCE-479D-8E62-05B515FBD785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AB2BC-68CA-1E1C-2AE7-822DEEC96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C440F-8A47-6A19-5C56-1D126C50B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8DF9F-0B19-411A-A2DC-65E03371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09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410E-77C9-D7C2-8DD0-317D370D5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064" y="1122363"/>
            <a:ext cx="4905935" cy="2387600"/>
          </a:xfrm>
        </p:spPr>
        <p:txBody>
          <a:bodyPr>
            <a:normAutofit/>
          </a:bodyPr>
          <a:lstStyle/>
          <a:p>
            <a:r>
              <a:rPr lang="bg-BG" sz="7200" b="1" i="0" u="none" strike="noStrike" noProof="0" dirty="0">
                <a:solidFill>
                  <a:schemeClr val="bg1"/>
                </a:solidFill>
                <a:effectLst/>
                <a:latin typeface="Californian FB" panose="0207040306080B030204" pitchFamily="18" charset="0"/>
              </a:rPr>
              <a:t>3D AGROBOT</a:t>
            </a:r>
            <a:r>
              <a:rPr lang="bg-BG" sz="7200" b="1" i="0" noProof="0" dirty="0">
                <a:solidFill>
                  <a:schemeClr val="bg1"/>
                </a:solidFill>
                <a:effectLst/>
                <a:latin typeface="Californian FB" panose="0207040306080B030204" pitchFamily="18" charset="0"/>
                <a:cs typeface="Angsana New" panose="02020603050405020304" pitchFamily="18" charset="-34"/>
              </a:rPr>
              <a:t>​</a:t>
            </a:r>
            <a:endParaRPr lang="bg-BG" sz="7200" b="1" noProof="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5D11B-FC7D-46C5-99F1-7867BFD5B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3770" y="3602038"/>
            <a:ext cx="4704229" cy="1655762"/>
          </a:xfrm>
        </p:spPr>
        <p:txBody>
          <a:bodyPr/>
          <a:lstStyle/>
          <a:p>
            <a:r>
              <a:rPr lang="bg-BG" noProof="0" dirty="0" err="1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Отбо</a:t>
            </a:r>
            <a:r>
              <a:rPr lang="bg-BG" dirty="0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р</a:t>
            </a:r>
            <a:r>
              <a:rPr lang="en-GB" dirty="0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:</a:t>
            </a:r>
            <a:r>
              <a:rPr lang="bg-BG" dirty="0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 </a:t>
            </a:r>
            <a:r>
              <a:rPr lang="en-GB" dirty="0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3D</a:t>
            </a:r>
          </a:p>
          <a:p>
            <a:r>
              <a:rPr lang="bg-BG" noProof="0" dirty="0">
                <a:solidFill>
                  <a:schemeClr val="bg1"/>
                </a:solidFill>
                <a:latin typeface="Georgia Pro Semibold" panose="02040702050405020303" pitchFamily="18" charset="0"/>
                <a:cs typeface="Angsana New" panose="02020603050405020304" pitchFamily="18" charset="-34"/>
              </a:rPr>
              <a:t>Ментор: Габриел Сяров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408A81-048A-0D24-21D6-F59753C56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9" t="18231" r="20543" b="8239"/>
          <a:stretch>
            <a:fillRect/>
          </a:stretch>
        </p:blipFill>
        <p:spPr>
          <a:xfrm>
            <a:off x="504264" y="988639"/>
            <a:ext cx="5257801" cy="5042647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15260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0BF4E4-40B4-5A1F-6D61-1AD2B906D28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Проблем</a:t>
            </a:r>
            <a:r>
              <a:rPr lang="bg-BG" sz="4000" dirty="0">
                <a:solidFill>
                  <a:schemeClr val="bg1"/>
                </a:solidFill>
                <a:latin typeface="Georgia Pro Semibold" panose="02040702050405020303" pitchFamily="18" charset="0"/>
              </a:rPr>
              <a:t> и настоящи решения​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347FC-67E4-6CE1-36C7-D9051CDAFD1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bg-BG" sz="3200" b="1" u="sng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Проблем:</a:t>
            </a:r>
            <a:r>
              <a:rPr lang="bg-BG" sz="3200" u="sng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GB" sz="3200" u="sng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 fontAlgn="base"/>
            <a:r>
              <a:rPr lang="bg-BG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​Откриването на заболявания често изисква опит или специализирани знания, а намирането на подходящо</a:t>
            </a:r>
            <a:r>
              <a:rPr lang="en-GB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bg-BG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лечение може да бъде още по-трудно.​</a:t>
            </a:r>
          </a:p>
          <a:p>
            <a:pPr fontAlgn="base"/>
            <a:r>
              <a:rPr lang="bg-BG" sz="3200" b="1" u="sng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Настоящи решения​:</a:t>
            </a:r>
          </a:p>
          <a:p>
            <a:pPr lvl="1" fontAlgn="base"/>
            <a:r>
              <a:rPr lang="bg-BG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Платени приложения за разпознаване на болести.​</a:t>
            </a:r>
          </a:p>
          <a:p>
            <a:pPr lvl="1" fontAlgn="base"/>
            <a:r>
              <a:rPr lang="bg-BG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Специалисти. ​</a:t>
            </a:r>
          </a:p>
          <a:p>
            <a:pPr lvl="1" fontAlgn="base"/>
            <a:r>
              <a:rPr lang="bg-BG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Информация в интернет​.</a:t>
            </a:r>
          </a:p>
        </p:txBody>
      </p:sp>
    </p:spTree>
    <p:extLst>
      <p:ext uri="{BB962C8B-B14F-4D97-AF65-F5344CB8AC3E}">
        <p14:creationId xmlns:p14="http://schemas.microsoft.com/office/powerpoint/2010/main" val="300407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059B-A4E5-7375-18F3-DC78C013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Нашето</a:t>
            </a:r>
            <a:r>
              <a:rPr lang="bg-BG" sz="4000" b="0" i="0" u="none" strike="noStrike" dirty="0">
                <a:solidFill>
                  <a:schemeClr val="bg1"/>
                </a:solidFill>
                <a:effectLst/>
                <a:latin typeface="Angsana New" panose="02020603050405020304" pitchFamily="18" charset="-34"/>
              </a:rPr>
              <a:t> </a:t>
            </a:r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решение</a:t>
            </a:r>
            <a:r>
              <a:rPr lang="bg-BG" sz="4000" b="0" i="0" dirty="0">
                <a:solidFill>
                  <a:schemeClr val="bg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​</a:t>
            </a:r>
            <a:endParaRPr lang="bg-BG" sz="4000" noProof="0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F97C-4A0A-0309-0B89-D4D8DE7CF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1361818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Нашето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решение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се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фокусира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именно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върху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здравето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растенията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като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команда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потребителя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проверява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здравословния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им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статус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и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необходи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мост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алармира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и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дава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съвети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следващи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действия</a:t>
            </a:r>
            <a:endParaRPr lang="bg-BG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fontAlgn="base">
              <a:buNone/>
            </a:pP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817CA045-7114-C761-C7AC-20894FC655C2}"/>
              </a:ext>
            </a:extLst>
          </p:cNvPr>
          <p:cNvSpPr txBox="1"/>
          <p:nvPr/>
        </p:nvSpPr>
        <p:spPr>
          <a:xfrm>
            <a:off x="1353670" y="3091547"/>
            <a:ext cx="60960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Безплатно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575EE44-8C2D-108B-4FB1-00DB6521E4D6}"/>
              </a:ext>
            </a:extLst>
          </p:cNvPr>
          <p:cNvSpPr txBox="1"/>
          <p:nvPr/>
        </p:nvSpPr>
        <p:spPr>
          <a:xfrm>
            <a:off x="1353670" y="3875364"/>
            <a:ext cx="60960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Достъпно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40E654B-E612-8FCC-6022-A6C3EF1E8190}"/>
              </a:ext>
            </a:extLst>
          </p:cNvPr>
          <p:cNvSpPr txBox="1"/>
          <p:nvPr/>
        </p:nvSpPr>
        <p:spPr>
          <a:xfrm>
            <a:off x="1353670" y="4672842"/>
            <a:ext cx="60960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Бърза</a:t>
            </a:r>
            <a:r>
              <a:rPr lang="en-US" dirty="0">
                <a:cs typeface="Arial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диагностика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D1D1FFD8-AAB6-2E55-4127-9910F6E472E5}"/>
              </a:ext>
            </a:extLst>
          </p:cNvPr>
          <p:cNvSpPr txBox="1"/>
          <p:nvPr/>
        </p:nvSpPr>
        <p:spPr>
          <a:xfrm>
            <a:off x="1353670" y="5465646"/>
            <a:ext cx="60960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Предлага решение за лечение</a:t>
            </a:r>
            <a:endParaRPr lang="en-US" dirty="0"/>
          </a:p>
        </p:txBody>
      </p:sp>
      <p:pic>
        <p:nvPicPr>
          <p:cNvPr id="23" name="Content Placeholder 5">
            <a:extLst>
              <a:ext uri="{FF2B5EF4-FFF2-40B4-BE49-F238E27FC236}">
                <a16:creationId xmlns:a16="http://schemas.microsoft.com/office/drawing/2014/main" id="{A96C05D3-5864-1334-B224-723B08B4F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97438">
            <a:off x="5562158" y="3246217"/>
            <a:ext cx="2826884" cy="33149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FFD7C9E-B523-F2D1-B8A9-01914475E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279" y="3256056"/>
            <a:ext cx="5635352" cy="37569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7B8521-9F3C-A2CA-9972-9A974F38E8B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5575" y="2788056"/>
            <a:ext cx="1688086" cy="148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8AC5-0DDA-A077-D900-1FE9A4BD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Описание на робота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B3A584A-4297-FABB-83E6-2F6657378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41" y="1825625"/>
            <a:ext cx="8820549" cy="588036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5725CD-05B5-1F56-CF6E-03C3BA2B691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744200" cy="136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3D AGROBOT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е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робот,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който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се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грижи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за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растенията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като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обхожда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посевите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заснемайки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ги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определя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проблемните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индивиди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предлага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лечение.</a:t>
            </a:r>
            <a:endParaRPr lang="bg-BG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fontAlgn="base"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0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8C66-CFDE-6522-86B8-920E7B54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5BF2-CF07-D6AB-55F9-0ABEC047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Описание на приложението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C906-5DAF-B5EA-E94F-58C50C5FB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10065" cy="4351338"/>
          </a:xfrm>
        </p:spPr>
        <p:txBody>
          <a:bodyPr>
            <a:normAutofit/>
          </a:bodyPr>
          <a:lstStyle/>
          <a:p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Приложение за </a:t>
            </a:r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Android,</a:t>
            </a:r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позволяващо организиране на градини и следене на здравословното състояние на растенията</a:t>
            </a:r>
          </a:p>
          <a:p>
            <a:r>
              <a:rPr lang="bg-BG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Състои се от следните страници</a:t>
            </a:r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Начална страница</a:t>
            </a: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Страница за регистриране</a:t>
            </a: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Страница за вход в акаунт</a:t>
            </a: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Страница за следене на градини – Добавяне, Редактиране</a:t>
            </a: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Страница за стартиране на робота</a:t>
            </a:r>
          </a:p>
          <a:p>
            <a:pPr lvl="1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Страница за следена на здравословното състояние на растенията</a:t>
            </a:r>
            <a:b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B6C74-E689-5AA0-C41C-8A717F2F7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43" r="472" b="5324"/>
          <a:stretch>
            <a:fillRect/>
          </a:stretch>
        </p:blipFill>
        <p:spPr>
          <a:xfrm>
            <a:off x="9445651" y="681037"/>
            <a:ext cx="2550154" cy="5228855"/>
          </a:xfrm>
          <a:custGeom>
            <a:avLst/>
            <a:gdLst>
              <a:gd name="csX0" fmla="*/ 0 w 2550154"/>
              <a:gd name="csY0" fmla="*/ 0 h 5228855"/>
              <a:gd name="csX1" fmla="*/ 688542 w 2550154"/>
              <a:gd name="csY1" fmla="*/ 0 h 5228855"/>
              <a:gd name="csX2" fmla="*/ 1249575 w 2550154"/>
              <a:gd name="csY2" fmla="*/ 0 h 5228855"/>
              <a:gd name="csX3" fmla="*/ 1938117 w 2550154"/>
              <a:gd name="csY3" fmla="*/ 0 h 5228855"/>
              <a:gd name="csX4" fmla="*/ 2550154 w 2550154"/>
              <a:gd name="csY4" fmla="*/ 0 h 5228855"/>
              <a:gd name="csX5" fmla="*/ 2550154 w 2550154"/>
              <a:gd name="csY5" fmla="*/ 705895 h 5228855"/>
              <a:gd name="csX6" fmla="*/ 2550154 w 2550154"/>
              <a:gd name="csY6" fmla="*/ 1307214 h 5228855"/>
              <a:gd name="csX7" fmla="*/ 2550154 w 2550154"/>
              <a:gd name="csY7" fmla="*/ 2013109 h 5228855"/>
              <a:gd name="csX8" fmla="*/ 2550154 w 2550154"/>
              <a:gd name="csY8" fmla="*/ 2771293 h 5228855"/>
              <a:gd name="csX9" fmla="*/ 2550154 w 2550154"/>
              <a:gd name="csY9" fmla="*/ 3477189 h 5228855"/>
              <a:gd name="csX10" fmla="*/ 2550154 w 2550154"/>
              <a:gd name="csY10" fmla="*/ 4183084 h 5228855"/>
              <a:gd name="csX11" fmla="*/ 2550154 w 2550154"/>
              <a:gd name="csY11" fmla="*/ 5228855 h 5228855"/>
              <a:gd name="csX12" fmla="*/ 1989120 w 2550154"/>
              <a:gd name="csY12" fmla="*/ 5228855 h 5228855"/>
              <a:gd name="csX13" fmla="*/ 1326080 w 2550154"/>
              <a:gd name="csY13" fmla="*/ 5228855 h 5228855"/>
              <a:gd name="csX14" fmla="*/ 765046 w 2550154"/>
              <a:gd name="csY14" fmla="*/ 5228855 h 5228855"/>
              <a:gd name="csX15" fmla="*/ 0 w 2550154"/>
              <a:gd name="csY15" fmla="*/ 5228855 h 5228855"/>
              <a:gd name="csX16" fmla="*/ 0 w 2550154"/>
              <a:gd name="csY16" fmla="*/ 4679825 h 5228855"/>
              <a:gd name="csX17" fmla="*/ 0 w 2550154"/>
              <a:gd name="csY17" fmla="*/ 4078507 h 5228855"/>
              <a:gd name="csX18" fmla="*/ 0 w 2550154"/>
              <a:gd name="csY18" fmla="*/ 3320323 h 5228855"/>
              <a:gd name="csX19" fmla="*/ 0 w 2550154"/>
              <a:gd name="csY19" fmla="*/ 2823582 h 5228855"/>
              <a:gd name="csX20" fmla="*/ 0 w 2550154"/>
              <a:gd name="csY20" fmla="*/ 2222263 h 5228855"/>
              <a:gd name="csX21" fmla="*/ 0 w 2550154"/>
              <a:gd name="csY21" fmla="*/ 1464079 h 5228855"/>
              <a:gd name="csX22" fmla="*/ 0 w 2550154"/>
              <a:gd name="csY22" fmla="*/ 705895 h 5228855"/>
              <a:gd name="csX23" fmla="*/ 0 w 2550154"/>
              <a:gd name="csY23" fmla="*/ 0 h 5228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2550154" h="5228855" fill="none" extrusionOk="0">
                <a:moveTo>
                  <a:pt x="0" y="0"/>
                </a:moveTo>
                <a:cubicBezTo>
                  <a:pt x="169046" y="7341"/>
                  <a:pt x="486235" y="-11747"/>
                  <a:pt x="688542" y="0"/>
                </a:cubicBezTo>
                <a:cubicBezTo>
                  <a:pt x="890849" y="11747"/>
                  <a:pt x="1074743" y="-22682"/>
                  <a:pt x="1249575" y="0"/>
                </a:cubicBezTo>
                <a:cubicBezTo>
                  <a:pt x="1424407" y="22682"/>
                  <a:pt x="1635159" y="18162"/>
                  <a:pt x="1938117" y="0"/>
                </a:cubicBezTo>
                <a:cubicBezTo>
                  <a:pt x="2241075" y="-18162"/>
                  <a:pt x="2408696" y="20407"/>
                  <a:pt x="2550154" y="0"/>
                </a:cubicBezTo>
                <a:cubicBezTo>
                  <a:pt x="2552395" y="265883"/>
                  <a:pt x="2530124" y="477134"/>
                  <a:pt x="2550154" y="705895"/>
                </a:cubicBezTo>
                <a:cubicBezTo>
                  <a:pt x="2570184" y="934657"/>
                  <a:pt x="2556149" y="1006794"/>
                  <a:pt x="2550154" y="1307214"/>
                </a:cubicBezTo>
                <a:cubicBezTo>
                  <a:pt x="2544159" y="1607634"/>
                  <a:pt x="2524736" y="1813986"/>
                  <a:pt x="2550154" y="2013109"/>
                </a:cubicBezTo>
                <a:cubicBezTo>
                  <a:pt x="2575572" y="2212233"/>
                  <a:pt x="2586243" y="2534136"/>
                  <a:pt x="2550154" y="2771293"/>
                </a:cubicBezTo>
                <a:cubicBezTo>
                  <a:pt x="2514065" y="3008450"/>
                  <a:pt x="2568372" y="3299407"/>
                  <a:pt x="2550154" y="3477189"/>
                </a:cubicBezTo>
                <a:cubicBezTo>
                  <a:pt x="2531936" y="3654971"/>
                  <a:pt x="2554233" y="3928259"/>
                  <a:pt x="2550154" y="4183084"/>
                </a:cubicBezTo>
                <a:cubicBezTo>
                  <a:pt x="2546075" y="4437910"/>
                  <a:pt x="2589732" y="4879645"/>
                  <a:pt x="2550154" y="5228855"/>
                </a:cubicBezTo>
                <a:cubicBezTo>
                  <a:pt x="2346556" y="5237526"/>
                  <a:pt x="2131310" y="5240978"/>
                  <a:pt x="1989120" y="5228855"/>
                </a:cubicBezTo>
                <a:cubicBezTo>
                  <a:pt x="1846930" y="5216732"/>
                  <a:pt x="1531733" y="5198231"/>
                  <a:pt x="1326080" y="5228855"/>
                </a:cubicBezTo>
                <a:cubicBezTo>
                  <a:pt x="1120427" y="5259479"/>
                  <a:pt x="1023475" y="5218663"/>
                  <a:pt x="765046" y="5228855"/>
                </a:cubicBezTo>
                <a:cubicBezTo>
                  <a:pt x="506617" y="5239047"/>
                  <a:pt x="181467" y="5196333"/>
                  <a:pt x="0" y="5228855"/>
                </a:cubicBezTo>
                <a:cubicBezTo>
                  <a:pt x="17133" y="5068747"/>
                  <a:pt x="24119" y="4948598"/>
                  <a:pt x="0" y="4679825"/>
                </a:cubicBezTo>
                <a:cubicBezTo>
                  <a:pt x="-24119" y="4411052"/>
                  <a:pt x="21151" y="4253890"/>
                  <a:pt x="0" y="4078507"/>
                </a:cubicBezTo>
                <a:cubicBezTo>
                  <a:pt x="-21151" y="3903124"/>
                  <a:pt x="9521" y="3636499"/>
                  <a:pt x="0" y="3320323"/>
                </a:cubicBezTo>
                <a:cubicBezTo>
                  <a:pt x="-9521" y="3004147"/>
                  <a:pt x="-8418" y="3051655"/>
                  <a:pt x="0" y="2823582"/>
                </a:cubicBezTo>
                <a:cubicBezTo>
                  <a:pt x="8418" y="2595509"/>
                  <a:pt x="-12951" y="2448184"/>
                  <a:pt x="0" y="2222263"/>
                </a:cubicBezTo>
                <a:cubicBezTo>
                  <a:pt x="12951" y="1996342"/>
                  <a:pt x="8991" y="1777643"/>
                  <a:pt x="0" y="1464079"/>
                </a:cubicBezTo>
                <a:cubicBezTo>
                  <a:pt x="-8991" y="1150515"/>
                  <a:pt x="22601" y="1025513"/>
                  <a:pt x="0" y="705895"/>
                </a:cubicBezTo>
                <a:cubicBezTo>
                  <a:pt x="-22601" y="386277"/>
                  <a:pt x="-23567" y="256102"/>
                  <a:pt x="0" y="0"/>
                </a:cubicBezTo>
                <a:close/>
              </a:path>
              <a:path w="2550154" h="5228855" stroke="0" extrusionOk="0">
                <a:moveTo>
                  <a:pt x="0" y="0"/>
                </a:moveTo>
                <a:cubicBezTo>
                  <a:pt x="313351" y="13305"/>
                  <a:pt x="445813" y="-7062"/>
                  <a:pt x="688542" y="0"/>
                </a:cubicBezTo>
                <a:cubicBezTo>
                  <a:pt x="931271" y="7062"/>
                  <a:pt x="1070892" y="-12234"/>
                  <a:pt x="1326080" y="0"/>
                </a:cubicBezTo>
                <a:cubicBezTo>
                  <a:pt x="1581268" y="12234"/>
                  <a:pt x="1643856" y="-1956"/>
                  <a:pt x="1887114" y="0"/>
                </a:cubicBezTo>
                <a:cubicBezTo>
                  <a:pt x="2130372" y="1956"/>
                  <a:pt x="2385209" y="7640"/>
                  <a:pt x="2550154" y="0"/>
                </a:cubicBezTo>
                <a:cubicBezTo>
                  <a:pt x="2530390" y="119642"/>
                  <a:pt x="2538839" y="257899"/>
                  <a:pt x="2550154" y="496741"/>
                </a:cubicBezTo>
                <a:cubicBezTo>
                  <a:pt x="2561469" y="735583"/>
                  <a:pt x="2542810" y="1009325"/>
                  <a:pt x="2550154" y="1254925"/>
                </a:cubicBezTo>
                <a:cubicBezTo>
                  <a:pt x="2557498" y="1500525"/>
                  <a:pt x="2563246" y="1733844"/>
                  <a:pt x="2550154" y="1908532"/>
                </a:cubicBezTo>
                <a:cubicBezTo>
                  <a:pt x="2537062" y="2083220"/>
                  <a:pt x="2542411" y="2235614"/>
                  <a:pt x="2550154" y="2405273"/>
                </a:cubicBezTo>
                <a:cubicBezTo>
                  <a:pt x="2557897" y="2574932"/>
                  <a:pt x="2554293" y="2799839"/>
                  <a:pt x="2550154" y="2954303"/>
                </a:cubicBezTo>
                <a:cubicBezTo>
                  <a:pt x="2546016" y="3108767"/>
                  <a:pt x="2579078" y="3382903"/>
                  <a:pt x="2550154" y="3555621"/>
                </a:cubicBezTo>
                <a:cubicBezTo>
                  <a:pt x="2521230" y="3728339"/>
                  <a:pt x="2523873" y="4004127"/>
                  <a:pt x="2550154" y="4156940"/>
                </a:cubicBezTo>
                <a:cubicBezTo>
                  <a:pt x="2576435" y="4309753"/>
                  <a:pt x="2512131" y="4959173"/>
                  <a:pt x="2550154" y="5228855"/>
                </a:cubicBezTo>
                <a:cubicBezTo>
                  <a:pt x="2420194" y="5260439"/>
                  <a:pt x="2108580" y="5200465"/>
                  <a:pt x="1912616" y="5228855"/>
                </a:cubicBezTo>
                <a:cubicBezTo>
                  <a:pt x="1716652" y="5257245"/>
                  <a:pt x="1601918" y="5236133"/>
                  <a:pt x="1326080" y="5228855"/>
                </a:cubicBezTo>
                <a:cubicBezTo>
                  <a:pt x="1050242" y="5221577"/>
                  <a:pt x="968869" y="5236523"/>
                  <a:pt x="714043" y="5228855"/>
                </a:cubicBezTo>
                <a:cubicBezTo>
                  <a:pt x="459217" y="5221187"/>
                  <a:pt x="297715" y="5234837"/>
                  <a:pt x="0" y="5228855"/>
                </a:cubicBezTo>
                <a:cubicBezTo>
                  <a:pt x="-18432" y="4985459"/>
                  <a:pt x="25460" y="4884489"/>
                  <a:pt x="0" y="4627537"/>
                </a:cubicBezTo>
                <a:cubicBezTo>
                  <a:pt x="-25460" y="4370585"/>
                  <a:pt x="5498" y="4251885"/>
                  <a:pt x="0" y="4026218"/>
                </a:cubicBezTo>
                <a:cubicBezTo>
                  <a:pt x="-5498" y="3800551"/>
                  <a:pt x="24074" y="3530744"/>
                  <a:pt x="0" y="3372611"/>
                </a:cubicBezTo>
                <a:cubicBezTo>
                  <a:pt x="-24074" y="3214478"/>
                  <a:pt x="-18554" y="3058408"/>
                  <a:pt x="0" y="2771293"/>
                </a:cubicBezTo>
                <a:cubicBezTo>
                  <a:pt x="18554" y="2484178"/>
                  <a:pt x="13430" y="2416341"/>
                  <a:pt x="0" y="2222263"/>
                </a:cubicBezTo>
                <a:cubicBezTo>
                  <a:pt x="-13430" y="2028185"/>
                  <a:pt x="-24467" y="1813955"/>
                  <a:pt x="0" y="1620945"/>
                </a:cubicBezTo>
                <a:cubicBezTo>
                  <a:pt x="24467" y="1427935"/>
                  <a:pt x="-31740" y="1167927"/>
                  <a:pt x="0" y="862761"/>
                </a:cubicBezTo>
                <a:cubicBezTo>
                  <a:pt x="31740" y="557595"/>
                  <a:pt x="-28492" y="202261"/>
                  <a:pt x="0" y="0"/>
                </a:cubicBezTo>
                <a:close/>
              </a:path>
            </a:pathLst>
          </a:custGeom>
          <a:ln w="28575">
            <a:solidFill>
              <a:srgbClr val="3B4C1C"/>
            </a:solidFill>
            <a:extLst>
              <a:ext uri="{C807C97D-BFC1-408E-A445-0C87EB9F89A2}">
                <ask:lineSketchStyleProps xmlns:ask="http://schemas.microsoft.com/office/drawing/2018/sketchyshapes" sd="111589691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36207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D56A-A7EE-D927-ECF8-15696105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E0FB-8EAC-D422-B2F1-603794F6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Използвани технологии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24607D1F-CB45-6CC7-C9E2-59C1A346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281" y="4229285"/>
            <a:ext cx="1827181" cy="182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4" descr="Ардуино – Уикипедия">
            <a:extLst>
              <a:ext uri="{FF2B5EF4-FFF2-40B4-BE49-F238E27FC236}">
                <a16:creationId xmlns:a16="http://schemas.microsoft.com/office/drawing/2014/main" id="{59757895-3F0D-9C76-48D7-E73A26D060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4150" y="-5721203"/>
            <a:ext cx="174478" cy="17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49" name="Picture 25" descr="Python (programming language) - Wikipedia">
            <a:extLst>
              <a:ext uri="{FF2B5EF4-FFF2-40B4-BE49-F238E27FC236}">
                <a16:creationId xmlns:a16="http://schemas.microsoft.com/office/drawing/2014/main" id="{66A02B83-06A7-D8BE-F3EE-E698DFDA1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281" y="1795467"/>
            <a:ext cx="1827181" cy="182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mazon.com: ESP32-S2FN4R2 IC : Industrial &amp; Scientific">
            <a:extLst>
              <a:ext uri="{FF2B5EF4-FFF2-40B4-BE49-F238E27FC236}">
                <a16:creationId xmlns:a16="http://schemas.microsoft.com/office/drawing/2014/main" id="{44E4C0C4-5F21-E565-1FD8-64275F3C7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653" y="1696131"/>
            <a:ext cx="1732869" cy="173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Railway Design | Railway Design">
            <a:extLst>
              <a:ext uri="{FF2B5EF4-FFF2-40B4-BE49-F238E27FC236}">
                <a16:creationId xmlns:a16="http://schemas.microsoft.com/office/drawing/2014/main" id="{5F6933DB-AD83-875F-62C0-64AB0CFF2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570" y="4152216"/>
            <a:ext cx="1766952" cy="176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Jetpackcompose Original PNG Logo — Download Free Transparent Logo">
            <a:extLst>
              <a:ext uri="{FF2B5EF4-FFF2-40B4-BE49-F238E27FC236}">
                <a16:creationId xmlns:a16="http://schemas.microsoft.com/office/drawing/2014/main" id="{1B122CE1-62CD-D61D-C4EF-C68CB00C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027" y="4049002"/>
            <a:ext cx="2007464" cy="200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MySQL logo PNG transparent image download, size: 300x300px">
            <a:extLst>
              <a:ext uri="{FF2B5EF4-FFF2-40B4-BE49-F238E27FC236}">
                <a16:creationId xmlns:a16="http://schemas.microsoft.com/office/drawing/2014/main" id="{BBE8B73B-A2E5-EAD5-17F7-0A96864D1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38" y="4049002"/>
            <a:ext cx="2007464" cy="200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 descr="Download Raspberry Pi Logo in SVG Vector or PNG File Format - Logo.wine">
            <a:extLst>
              <a:ext uri="{FF2B5EF4-FFF2-40B4-BE49-F238E27FC236}">
                <a16:creationId xmlns:a16="http://schemas.microsoft.com/office/drawing/2014/main" id="{594D67B8-445C-5199-C4B8-2DCE6B954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8" t="10493" r="23048" b="9784"/>
          <a:stretch>
            <a:fillRect/>
          </a:stretch>
        </p:blipFill>
        <p:spPr bwMode="auto">
          <a:xfrm>
            <a:off x="6272313" y="1437511"/>
            <a:ext cx="2355177" cy="218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88A97D83-4FDB-3CF9-C779-9C0E46193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38" y="1615184"/>
            <a:ext cx="2007464" cy="200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14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BB0DC-3C40-0E84-08AA-11332AD4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1A566-9193-62E7-7C90-42EDB57A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Компоненти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8859A-5161-F2BF-C974-784BA70B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Микроконтролери: 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ESP32, ESP32-CAM, Arduino Mega 2560</a:t>
            </a:r>
          </a:p>
          <a:p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Задвижване: </a:t>
            </a:r>
          </a:p>
          <a:p>
            <a:pPr lvl="1"/>
            <a:r>
              <a:rPr lang="bg-BG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 бр. </a:t>
            </a: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DC </a:t>
            </a:r>
            <a:r>
              <a:rPr lang="bg-BG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мотори</a:t>
            </a:r>
          </a:p>
          <a:p>
            <a:pPr lvl="1"/>
            <a:r>
              <a:rPr lang="bg-BG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 бр. </a:t>
            </a: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TB6612FNG Motor Driver</a:t>
            </a:r>
          </a:p>
          <a:p>
            <a:r>
              <a:rPr lang="bg-BG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Аксиометър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1"/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MPU9250</a:t>
            </a:r>
          </a:p>
          <a:p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Сървъри</a:t>
            </a: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Raspberry Pi 4 8GB RAM</a:t>
            </a:r>
            <a:br>
              <a:rPr lang="bg-BG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16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61883A-7390-39D2-12AC-7DE2E551F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48233">
            <a:off x="6162104" y="-64617"/>
            <a:ext cx="5107903" cy="766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4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969C1-C6C9-F1DA-294B-63F9AE9A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EA3FDA8-A6E9-1CB2-2B69-2BC9BBA334E9}"/>
              </a:ext>
            </a:extLst>
          </p:cNvPr>
          <p:cNvSpPr/>
          <p:nvPr/>
        </p:nvSpPr>
        <p:spPr>
          <a:xfrm>
            <a:off x="1238250" y="1825625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218CC5E-7244-D46A-3B24-7E21BA26A4D1}"/>
              </a:ext>
            </a:extLst>
          </p:cNvPr>
          <p:cNvSpPr/>
          <p:nvPr/>
        </p:nvSpPr>
        <p:spPr>
          <a:xfrm>
            <a:off x="4136876" y="1825625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48366B3-74B1-77B7-8B7F-64F53ADA5450}"/>
              </a:ext>
            </a:extLst>
          </p:cNvPr>
          <p:cNvSpPr/>
          <p:nvPr/>
        </p:nvSpPr>
        <p:spPr>
          <a:xfrm>
            <a:off x="7035502" y="1825625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69944C2-34F2-46B4-1199-EB8D6E75212F}"/>
              </a:ext>
            </a:extLst>
          </p:cNvPr>
          <p:cNvSpPr/>
          <p:nvPr/>
        </p:nvSpPr>
        <p:spPr>
          <a:xfrm rot="3450753">
            <a:off x="9749110" y="2224640"/>
            <a:ext cx="1181100" cy="1222012"/>
          </a:xfrm>
          <a:custGeom>
            <a:avLst/>
            <a:gdLst>
              <a:gd name="csX0" fmla="*/ 0 w 1181100"/>
              <a:gd name="csY0" fmla="*/ 611006 h 1222012"/>
              <a:gd name="csX1" fmla="*/ 590550 w 1181100"/>
              <a:gd name="csY1" fmla="*/ 0 h 1222012"/>
              <a:gd name="csX2" fmla="*/ 1181100 w 1181100"/>
              <a:gd name="csY2" fmla="*/ 611006 h 1222012"/>
              <a:gd name="csX3" fmla="*/ 590550 w 1181100"/>
              <a:gd name="csY3" fmla="*/ 1222012 h 1222012"/>
              <a:gd name="csX4" fmla="*/ 0 w 1181100"/>
              <a:gd name="csY4" fmla="*/ 611006 h 1222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222012" fill="none" extrusionOk="0">
                <a:moveTo>
                  <a:pt x="0" y="611006"/>
                </a:moveTo>
                <a:cubicBezTo>
                  <a:pt x="-8441" y="270099"/>
                  <a:pt x="252363" y="21748"/>
                  <a:pt x="590550" y="0"/>
                </a:cubicBezTo>
                <a:cubicBezTo>
                  <a:pt x="953829" y="42632"/>
                  <a:pt x="1218086" y="311366"/>
                  <a:pt x="1181100" y="611006"/>
                </a:cubicBezTo>
                <a:cubicBezTo>
                  <a:pt x="1168560" y="944612"/>
                  <a:pt x="938043" y="1246658"/>
                  <a:pt x="590550" y="1222012"/>
                </a:cubicBezTo>
                <a:cubicBezTo>
                  <a:pt x="254993" y="1234728"/>
                  <a:pt x="-40748" y="911079"/>
                  <a:pt x="0" y="611006"/>
                </a:cubicBezTo>
                <a:close/>
              </a:path>
              <a:path w="1181100" h="1222012" stroke="0" extrusionOk="0">
                <a:moveTo>
                  <a:pt x="0" y="611006"/>
                </a:moveTo>
                <a:cubicBezTo>
                  <a:pt x="29423" y="230251"/>
                  <a:pt x="266537" y="3353"/>
                  <a:pt x="590550" y="0"/>
                </a:cubicBezTo>
                <a:cubicBezTo>
                  <a:pt x="904673" y="-33482"/>
                  <a:pt x="1190613" y="279247"/>
                  <a:pt x="1181100" y="611006"/>
                </a:cubicBezTo>
                <a:cubicBezTo>
                  <a:pt x="1175417" y="886446"/>
                  <a:pt x="912666" y="1223830"/>
                  <a:pt x="590550" y="1222012"/>
                </a:cubicBezTo>
                <a:cubicBezTo>
                  <a:pt x="252553" y="1165184"/>
                  <a:pt x="8498" y="960710"/>
                  <a:pt x="0" y="611006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0F8C54A-7916-CDC1-C9AF-C26B5B871336}"/>
              </a:ext>
            </a:extLst>
          </p:cNvPr>
          <p:cNvSpPr/>
          <p:nvPr/>
        </p:nvSpPr>
        <p:spPr>
          <a:xfrm>
            <a:off x="9291074" y="4858949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CE24EF2A-57C9-2921-CB87-291B8FEB0A7E}"/>
              </a:ext>
            </a:extLst>
          </p:cNvPr>
          <p:cNvSpPr/>
          <p:nvPr/>
        </p:nvSpPr>
        <p:spPr>
          <a:xfrm>
            <a:off x="6674734" y="4959763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84EBC0B-5BA6-2A99-6830-2B461BA3C03F}"/>
              </a:ext>
            </a:extLst>
          </p:cNvPr>
          <p:cNvSpPr/>
          <p:nvPr/>
        </p:nvSpPr>
        <p:spPr>
          <a:xfrm>
            <a:off x="4012485" y="4930372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9A973EA-2FFD-A345-5396-4D25B41413B0}"/>
              </a:ext>
            </a:extLst>
          </p:cNvPr>
          <p:cNvSpPr/>
          <p:nvPr/>
        </p:nvSpPr>
        <p:spPr>
          <a:xfrm>
            <a:off x="1200965" y="4948658"/>
            <a:ext cx="1181100" cy="1117600"/>
          </a:xfrm>
          <a:custGeom>
            <a:avLst/>
            <a:gdLst>
              <a:gd name="csX0" fmla="*/ 0 w 1181100"/>
              <a:gd name="csY0" fmla="*/ 558800 h 1117600"/>
              <a:gd name="csX1" fmla="*/ 590550 w 1181100"/>
              <a:gd name="csY1" fmla="*/ 0 h 1117600"/>
              <a:gd name="csX2" fmla="*/ 1181100 w 1181100"/>
              <a:gd name="csY2" fmla="*/ 558800 h 1117600"/>
              <a:gd name="csX3" fmla="*/ 590550 w 1181100"/>
              <a:gd name="csY3" fmla="*/ 1117600 h 1117600"/>
              <a:gd name="csX4" fmla="*/ 0 w 11811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1100" h="1117600" fill="none" extrusionOk="0">
                <a:moveTo>
                  <a:pt x="0" y="558800"/>
                </a:moveTo>
                <a:cubicBezTo>
                  <a:pt x="-8441" y="246725"/>
                  <a:pt x="252363" y="21748"/>
                  <a:pt x="590550" y="0"/>
                </a:cubicBezTo>
                <a:cubicBezTo>
                  <a:pt x="944130" y="31494"/>
                  <a:pt x="1194085" y="263457"/>
                  <a:pt x="1181100" y="558800"/>
                </a:cubicBezTo>
                <a:cubicBezTo>
                  <a:pt x="1168560" y="863574"/>
                  <a:pt x="938043" y="1142246"/>
                  <a:pt x="590550" y="1117600"/>
                </a:cubicBezTo>
                <a:cubicBezTo>
                  <a:pt x="248607" y="1138950"/>
                  <a:pt x="-15918" y="852817"/>
                  <a:pt x="0" y="558800"/>
                </a:cubicBezTo>
                <a:close/>
              </a:path>
              <a:path w="1181100" h="1117600" stroke="0" extrusionOk="0">
                <a:moveTo>
                  <a:pt x="0" y="558800"/>
                </a:moveTo>
                <a:cubicBezTo>
                  <a:pt x="29423" y="206877"/>
                  <a:pt x="266537" y="3353"/>
                  <a:pt x="590550" y="0"/>
                </a:cubicBezTo>
                <a:cubicBezTo>
                  <a:pt x="913376" y="-9257"/>
                  <a:pt x="1228851" y="278745"/>
                  <a:pt x="1181100" y="558800"/>
                </a:cubicBezTo>
                <a:cubicBezTo>
                  <a:pt x="1175417" y="805408"/>
                  <a:pt x="912666" y="1119418"/>
                  <a:pt x="590550" y="1117600"/>
                </a:cubicBezTo>
                <a:cubicBezTo>
                  <a:pt x="254475" y="1069994"/>
                  <a:pt x="15374" y="889587"/>
                  <a:pt x="0" y="558800"/>
                </a:cubicBezTo>
                <a:close/>
              </a:path>
            </a:pathLst>
          </a:custGeom>
          <a:solidFill>
            <a:srgbClr val="BCD6B8"/>
          </a:solidFill>
          <a:ln>
            <a:solidFill>
              <a:srgbClr val="364226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6E9F0-B842-477D-D5D9-C46444F8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Процес на работа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pic>
        <p:nvPicPr>
          <p:cNvPr id="2068" name="Picture 20" descr="Light bulb - Free technology icons">
            <a:extLst>
              <a:ext uri="{FF2B5EF4-FFF2-40B4-BE49-F238E27FC236}">
                <a16:creationId xmlns:a16="http://schemas.microsoft.com/office/drawing/2014/main" id="{C67E6001-4846-8549-EC24-9D57CAA35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629" y="2010681"/>
            <a:ext cx="747488" cy="74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Download Free Structure Icons in PNG &amp; SVG">
            <a:extLst>
              <a:ext uri="{FF2B5EF4-FFF2-40B4-BE49-F238E27FC236}">
                <a16:creationId xmlns:a16="http://schemas.microsoft.com/office/drawing/2014/main" id="{7F4EB0D0-70C9-1565-A90E-3CA64B9EC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36422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313" y="1971312"/>
            <a:ext cx="826226" cy="82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Work-Experience Icons - Free SVG &amp; PNG Work-Experience ...">
            <a:extLst>
              <a:ext uri="{FF2B5EF4-FFF2-40B4-BE49-F238E27FC236}">
                <a16:creationId xmlns:a16="http://schemas.microsoft.com/office/drawing/2014/main" id="{53F79A3C-056A-67D0-0960-CACFFA946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769" y="1942142"/>
            <a:ext cx="884566" cy="88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3" name="Picture 25" descr="Coding - Free multimedia icons">
            <a:extLst>
              <a:ext uri="{FF2B5EF4-FFF2-40B4-BE49-F238E27FC236}">
                <a16:creationId xmlns:a16="http://schemas.microsoft.com/office/drawing/2014/main" id="{2C282CE5-6530-F375-1D72-C02AED50C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021" y="2493117"/>
            <a:ext cx="685058" cy="68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Challenges - Free business and finance icons">
            <a:extLst>
              <a:ext uri="{FF2B5EF4-FFF2-40B4-BE49-F238E27FC236}">
                <a16:creationId xmlns:a16="http://schemas.microsoft.com/office/drawing/2014/main" id="{2553F828-594C-105E-C429-0645DAD7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732" y="4966384"/>
            <a:ext cx="825784" cy="82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5" name="Picture 27" descr="A black and white cloud with wifi symbol&#10;&#10;AI-generated content may be incorrect.">
            <a:extLst>
              <a:ext uri="{FF2B5EF4-FFF2-40B4-BE49-F238E27FC236}">
                <a16:creationId xmlns:a16="http://schemas.microsoft.com/office/drawing/2014/main" id="{77175C1F-4D30-D0F4-9349-5CFA766E6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269" y="5085175"/>
            <a:ext cx="1058030" cy="90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Bug - Free computer icons">
            <a:extLst>
              <a:ext uri="{FF2B5EF4-FFF2-40B4-BE49-F238E27FC236}">
                <a16:creationId xmlns:a16="http://schemas.microsoft.com/office/drawing/2014/main" id="{25D302A7-7A38-28E3-5CBD-5A0BC56A3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973" y="5170852"/>
            <a:ext cx="696961" cy="69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7" name="Picture 29" descr="Presentation - Free education icons">
            <a:extLst>
              <a:ext uri="{FF2B5EF4-FFF2-40B4-BE49-F238E27FC236}">
                <a16:creationId xmlns:a16="http://schemas.microsoft.com/office/drawing/2014/main" id="{4C3B9F5B-547F-C900-6511-5F3474587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867" y="5152268"/>
            <a:ext cx="770703" cy="77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E1820D-79EC-A528-2255-C086DAF63D06}"/>
              </a:ext>
            </a:extLst>
          </p:cNvPr>
          <p:cNvSpPr/>
          <p:nvPr/>
        </p:nvSpPr>
        <p:spPr>
          <a:xfrm>
            <a:off x="2702858" y="2009869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13E2EFA-3632-11DA-71DC-0E4BDAD6477B}"/>
              </a:ext>
            </a:extLst>
          </p:cNvPr>
          <p:cNvSpPr/>
          <p:nvPr/>
        </p:nvSpPr>
        <p:spPr>
          <a:xfrm>
            <a:off x="5615829" y="1999119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27AE144-9715-C964-8546-63D1FC3D2711}"/>
              </a:ext>
            </a:extLst>
          </p:cNvPr>
          <p:cNvSpPr/>
          <p:nvPr/>
        </p:nvSpPr>
        <p:spPr>
          <a:xfrm rot="570843">
            <a:off x="8486841" y="2093906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9E3B456-FE05-B93B-8998-2E535B61C199}"/>
              </a:ext>
            </a:extLst>
          </p:cNvPr>
          <p:cNvSpPr/>
          <p:nvPr/>
        </p:nvSpPr>
        <p:spPr>
          <a:xfrm rot="6300119">
            <a:off x="9573819" y="3725335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EF5417C-DBE9-58D5-E10D-A45C18788076}"/>
              </a:ext>
            </a:extLst>
          </p:cNvPr>
          <p:cNvSpPr/>
          <p:nvPr/>
        </p:nvSpPr>
        <p:spPr>
          <a:xfrm rot="10800000">
            <a:off x="7976593" y="5132026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3385045-AD26-D0DB-B82E-E4FB82E077D1}"/>
              </a:ext>
            </a:extLst>
          </p:cNvPr>
          <p:cNvSpPr/>
          <p:nvPr/>
        </p:nvSpPr>
        <p:spPr>
          <a:xfrm rot="10800000">
            <a:off x="5278742" y="5085175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4FA2AD-D34A-C859-FD56-EC8C6B57376E}"/>
              </a:ext>
            </a:extLst>
          </p:cNvPr>
          <p:cNvSpPr/>
          <p:nvPr/>
        </p:nvSpPr>
        <p:spPr>
          <a:xfrm rot="10800000">
            <a:off x="2592374" y="5104254"/>
            <a:ext cx="1195445" cy="798419"/>
          </a:xfrm>
          <a:custGeom>
            <a:avLst/>
            <a:gdLst>
              <a:gd name="csX0" fmla="*/ 0 w 1195445"/>
              <a:gd name="csY0" fmla="*/ 199605 h 798419"/>
              <a:gd name="csX1" fmla="*/ 796236 w 1195445"/>
              <a:gd name="csY1" fmla="*/ 199605 h 798419"/>
              <a:gd name="csX2" fmla="*/ 796236 w 1195445"/>
              <a:gd name="csY2" fmla="*/ 0 h 798419"/>
              <a:gd name="csX3" fmla="*/ 1195445 w 1195445"/>
              <a:gd name="csY3" fmla="*/ 399210 h 798419"/>
              <a:gd name="csX4" fmla="*/ 796236 w 1195445"/>
              <a:gd name="csY4" fmla="*/ 798419 h 798419"/>
              <a:gd name="csX5" fmla="*/ 796236 w 1195445"/>
              <a:gd name="csY5" fmla="*/ 598814 h 798419"/>
              <a:gd name="csX6" fmla="*/ 0 w 1195445"/>
              <a:gd name="csY6" fmla="*/ 598814 h 798419"/>
              <a:gd name="csX7" fmla="*/ 0 w 1195445"/>
              <a:gd name="csY7" fmla="*/ 199605 h 798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95445" h="798419" fill="none" extrusionOk="0">
                <a:moveTo>
                  <a:pt x="0" y="199605"/>
                </a:moveTo>
                <a:cubicBezTo>
                  <a:pt x="150922" y="227688"/>
                  <a:pt x="488106" y="143039"/>
                  <a:pt x="796236" y="199605"/>
                </a:cubicBezTo>
                <a:cubicBezTo>
                  <a:pt x="803404" y="148197"/>
                  <a:pt x="801379" y="84202"/>
                  <a:pt x="796236" y="0"/>
                </a:cubicBezTo>
                <a:cubicBezTo>
                  <a:pt x="903220" y="146428"/>
                  <a:pt x="1032304" y="171724"/>
                  <a:pt x="1195445" y="399210"/>
                </a:cubicBezTo>
                <a:cubicBezTo>
                  <a:pt x="1074156" y="545768"/>
                  <a:pt x="988248" y="609533"/>
                  <a:pt x="796236" y="798419"/>
                </a:cubicBezTo>
                <a:cubicBezTo>
                  <a:pt x="812946" y="735158"/>
                  <a:pt x="800270" y="642853"/>
                  <a:pt x="796236" y="598814"/>
                </a:cubicBezTo>
                <a:cubicBezTo>
                  <a:pt x="543891" y="614136"/>
                  <a:pt x="287939" y="640022"/>
                  <a:pt x="0" y="598814"/>
                </a:cubicBezTo>
                <a:cubicBezTo>
                  <a:pt x="-32405" y="421285"/>
                  <a:pt x="-24537" y="348593"/>
                  <a:pt x="0" y="199605"/>
                </a:cubicBezTo>
                <a:close/>
              </a:path>
              <a:path w="1195445" h="798419" stroke="0" extrusionOk="0">
                <a:moveTo>
                  <a:pt x="0" y="199605"/>
                </a:moveTo>
                <a:cubicBezTo>
                  <a:pt x="165263" y="270105"/>
                  <a:pt x="632803" y="191595"/>
                  <a:pt x="796236" y="199605"/>
                </a:cubicBezTo>
                <a:cubicBezTo>
                  <a:pt x="794959" y="134359"/>
                  <a:pt x="782039" y="78601"/>
                  <a:pt x="796236" y="0"/>
                </a:cubicBezTo>
                <a:cubicBezTo>
                  <a:pt x="954738" y="170159"/>
                  <a:pt x="1074580" y="249378"/>
                  <a:pt x="1195445" y="399210"/>
                </a:cubicBezTo>
                <a:cubicBezTo>
                  <a:pt x="1027211" y="503899"/>
                  <a:pt x="853708" y="726375"/>
                  <a:pt x="796236" y="798419"/>
                </a:cubicBezTo>
                <a:cubicBezTo>
                  <a:pt x="802182" y="744386"/>
                  <a:pt x="809285" y="685448"/>
                  <a:pt x="796236" y="598814"/>
                </a:cubicBezTo>
                <a:cubicBezTo>
                  <a:pt x="452748" y="584717"/>
                  <a:pt x="80851" y="557229"/>
                  <a:pt x="0" y="598814"/>
                </a:cubicBezTo>
                <a:cubicBezTo>
                  <a:pt x="-28335" y="401748"/>
                  <a:pt x="-13425" y="239844"/>
                  <a:pt x="0" y="199605"/>
                </a:cubicBezTo>
                <a:close/>
              </a:path>
            </a:pathLst>
          </a:custGeom>
          <a:solidFill>
            <a:srgbClr val="E2D0B4">
              <a:alpha val="7882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418538779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1A8CE-EFB6-67CB-2729-AEC1D77A716A}"/>
              </a:ext>
            </a:extLst>
          </p:cNvPr>
          <p:cNvSpPr txBox="1"/>
          <p:nvPr/>
        </p:nvSpPr>
        <p:spPr>
          <a:xfrm>
            <a:off x="1305294" y="3006134"/>
            <a:ext cx="16193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Измисляне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идеята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C93402CF-2689-0090-39D3-23118C9DAE81}"/>
              </a:ext>
            </a:extLst>
          </p:cNvPr>
          <p:cNvSpPr txBox="1"/>
          <p:nvPr/>
        </p:nvSpPr>
        <p:spPr>
          <a:xfrm>
            <a:off x="3538806" y="3067081"/>
            <a:ext cx="307844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Измисляне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стуктура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проекта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90083789-22B7-0086-879F-FDE150813657}"/>
              </a:ext>
            </a:extLst>
          </p:cNvPr>
          <p:cNvSpPr txBox="1"/>
          <p:nvPr/>
        </p:nvSpPr>
        <p:spPr>
          <a:xfrm>
            <a:off x="6840956" y="3136619"/>
            <a:ext cx="190890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Разпределение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работата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4F84AA6D-36D5-B5CD-7C17-08954809C687}"/>
              </a:ext>
            </a:extLst>
          </p:cNvPr>
          <p:cNvSpPr txBox="1"/>
          <p:nvPr/>
        </p:nvSpPr>
        <p:spPr>
          <a:xfrm>
            <a:off x="9701097" y="1762216"/>
            <a:ext cx="176521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Разработка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78D119FA-37E7-3BBE-B754-C9A261BDBDE2}"/>
              </a:ext>
            </a:extLst>
          </p:cNvPr>
          <p:cNvSpPr txBox="1"/>
          <p:nvPr/>
        </p:nvSpPr>
        <p:spPr>
          <a:xfrm>
            <a:off x="8818850" y="6122281"/>
            <a:ext cx="230834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Предизвикателства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DEFB20D2-295D-0E9D-7897-42E77A79DE14}"/>
              </a:ext>
            </a:extLst>
          </p:cNvPr>
          <p:cNvSpPr txBox="1"/>
          <p:nvPr/>
        </p:nvSpPr>
        <p:spPr>
          <a:xfrm>
            <a:off x="3363358" y="6143153"/>
            <a:ext cx="269744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Поправяне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бъгове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2F2C63F9-B5E3-DDCC-FCCA-99EE47259E99}"/>
              </a:ext>
            </a:extLst>
          </p:cNvPr>
          <p:cNvSpPr txBox="1"/>
          <p:nvPr/>
        </p:nvSpPr>
        <p:spPr>
          <a:xfrm>
            <a:off x="918306" y="6107580"/>
            <a:ext cx="230834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Презентация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ACF802F6-4477-7B85-D6CC-01BDF94B6FCB}"/>
              </a:ext>
            </a:extLst>
          </p:cNvPr>
          <p:cNvSpPr txBox="1"/>
          <p:nvPr/>
        </p:nvSpPr>
        <p:spPr>
          <a:xfrm>
            <a:off x="6374840" y="6060896"/>
            <a:ext cx="269744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Качване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облак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сървърната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част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73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BEC5-31CD-A51A-9CBB-79EE7E63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E2C6-E96A-3602-F66B-F4F933D37E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7200" i="0" u="none" strike="noStrike" noProof="0" dirty="0">
                <a:solidFill>
                  <a:schemeClr val="bg1"/>
                </a:solidFill>
                <a:effectLst/>
                <a:latin typeface="Californian FB" panose="0207040306080B030204" pitchFamily="18" charset="0"/>
              </a:rPr>
              <a:t>ДЕМО</a:t>
            </a:r>
            <a:endParaRPr lang="bg-BG" sz="7200" noProof="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CAE59A-8E0E-8FCD-18AA-B49FCC0C6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25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8AC6-83A4-AB33-52DD-D89B94C9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9C6D-F232-B2E1-36EB-EDD6B7FE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solidFill>
                  <a:schemeClr val="bg1"/>
                </a:solidFill>
                <a:latin typeface="Georgia Pro Semibold" panose="02040702050405020303" pitchFamily="18" charset="0"/>
              </a:rPr>
              <a:t>Бъдещи развития</a:t>
            </a:r>
            <a:endParaRPr lang="en-GB" sz="4000" b="1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EA9C-C5E7-0242-FDDC-6A4ED88B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99738" cy="4351338"/>
          </a:xfrm>
        </p:spPr>
        <p:txBody>
          <a:bodyPr>
            <a:normAutofit/>
          </a:bodyPr>
          <a:lstStyle/>
          <a:p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Осигуряване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регулирането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хранителни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вещества, светлина и вода за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растенията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​</a:t>
            </a:r>
          </a:p>
          <a:p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Управление от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по-дълги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разстояния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​</a:t>
            </a:r>
          </a:p>
          <a:p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Снимане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на растения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през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приложението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​</a:t>
            </a: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64879-30DF-AF54-0DBD-52762B361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45332">
            <a:off x="4959228" y="3116603"/>
            <a:ext cx="5557180" cy="3704787"/>
          </a:xfrm>
          <a:prstGeom prst="rect">
            <a:avLst/>
          </a:prstGeom>
        </p:spPr>
      </p:pic>
      <p:pic>
        <p:nvPicPr>
          <p:cNvPr id="2050" name="Picture 2" descr="Orange Up Arrow PNG Transparent Background, Free Download #27175 -  FreeIconsPNG">
            <a:extLst>
              <a:ext uri="{FF2B5EF4-FFF2-40B4-BE49-F238E27FC236}">
                <a16:creationId xmlns:a16="http://schemas.microsoft.com/office/drawing/2014/main" id="{CB4FB0C6-2B78-5743-2840-F6291D9E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679" y="3180494"/>
            <a:ext cx="5109290" cy="323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66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EAD8-7B6E-71C0-56B2-34816046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D96A-07C0-7355-F28F-2E95F0B15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7200" i="0" u="none" strike="noStrike" noProof="0" dirty="0">
                <a:solidFill>
                  <a:schemeClr val="bg1"/>
                </a:solidFill>
                <a:effectLst/>
                <a:latin typeface="Californian FB" panose="0207040306080B030204" pitchFamily="18" charset="0"/>
              </a:rPr>
              <a:t>ВЪПРОСИ?</a:t>
            </a:r>
            <a:endParaRPr lang="bg-BG" sz="7200" noProof="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25C9A4-7711-D737-970D-FB6A5D55A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47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6F06-8ABC-786A-9C97-01D86AB5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EAFC-0605-39D1-9F4E-01A7B4154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2878"/>
            <a:ext cx="9144000" cy="2387600"/>
          </a:xfrm>
        </p:spPr>
        <p:txBody>
          <a:bodyPr>
            <a:normAutofit/>
          </a:bodyPr>
          <a:lstStyle/>
          <a:p>
            <a:r>
              <a:rPr lang="bg-BG" sz="7200" noProof="0" dirty="0">
                <a:solidFill>
                  <a:schemeClr val="bg1"/>
                </a:solidFill>
                <a:latin typeface="Californian FB" panose="0207040306080B030204" pitchFamily="18" charset="0"/>
              </a:rPr>
              <a:t>Благодарим Ви за вниманието!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9F8ECC-FDA3-0C1D-6DFA-86BBCB98B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66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423</Words>
  <Application>Microsoft Office PowerPoint</Application>
  <PresentationFormat>Widescreen</PresentationFormat>
  <Paragraphs>70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Angsana New</vt:lpstr>
      <vt:lpstr>Aptos</vt:lpstr>
      <vt:lpstr>Aptos Display</vt:lpstr>
      <vt:lpstr>Arial</vt:lpstr>
      <vt:lpstr>Calibri Light</vt:lpstr>
      <vt:lpstr>Californian FB</vt:lpstr>
      <vt:lpstr>Georgia Pro Semibold</vt:lpstr>
      <vt:lpstr>Office Theme</vt:lpstr>
      <vt:lpstr>3D AGROBOT​</vt:lpstr>
      <vt:lpstr>PowerPoint Presentation</vt:lpstr>
      <vt:lpstr>Нашето решение​</vt:lpstr>
      <vt:lpstr>Описание на робота</vt:lpstr>
      <vt:lpstr>Описание на приложението</vt:lpstr>
      <vt:lpstr>Използвани технологии</vt:lpstr>
      <vt:lpstr>Компоненти</vt:lpstr>
      <vt:lpstr>Процес на работа</vt:lpstr>
      <vt:lpstr>ДЕМО</vt:lpstr>
      <vt:lpstr>Бъдещи развития</vt:lpstr>
      <vt:lpstr>ВЪПРОСИ?</vt:lpstr>
      <vt:lpstr>Благодарим Ви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Eleonora Dimitrova</dc:creator>
  <cp:lastModifiedBy>Eleonora Dimitrova</cp:lastModifiedBy>
  <cp:revision>6</cp:revision>
  <dcterms:created xsi:type="dcterms:W3CDTF">2026-03-27T19:19:19Z</dcterms:created>
  <dcterms:modified xsi:type="dcterms:W3CDTF">2026-03-27T23:09:59Z</dcterms:modified>
</cp:coreProperties>
</file>